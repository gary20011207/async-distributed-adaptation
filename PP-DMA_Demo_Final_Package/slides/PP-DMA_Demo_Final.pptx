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1430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F172A"/>
                </a:solidFill>
                <a:latin typeface="Noto Sans CJK TC"/>
              </a:rPr>
              <a:t>PP-DMA: Privacy-Preserving Distributed Model Adaptation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965960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59669"/>
                </a:solidFill>
                <a:latin typeface="Noto Sans CJK TC"/>
              </a:rPr>
              <a:t>Correction-Aware Aggregation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880360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334155"/>
                </a:solidFill>
                <a:latin typeface="Noto Sans CJK TC"/>
              </a:rPr>
              <a:t>From biomedical image FL to closed-ended medical LLM/MLLM adaptation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4800600"/>
            <a:ext cx="2286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9304" y="4910328"/>
            <a:ext cx="20116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59669"/>
                </a:solidFill>
                <a:latin typeface="Noto Sans CJK TC"/>
              </a:rPr>
              <a:t>Main VQA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9304" y="51846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Noto Sans CJK TC"/>
              </a:rPr>
              <a:t>Qwen3-VL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9304" y="5568696"/>
            <a:ext cx="20116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475569"/>
                </a:solidFill>
                <a:latin typeface="Noto Sans CJK TC"/>
              </a:rPr>
              <a:t>PMC-VQA 100-eval 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94760" y="4800600"/>
            <a:ext cx="2286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41064" y="4910328"/>
            <a:ext cx="20116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59669"/>
                </a:solidFill>
                <a:latin typeface="Noto Sans CJK TC"/>
              </a:rPr>
              <a:t>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41064" y="51846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Noto Sans CJK TC"/>
              </a:rPr>
              <a:t>Text MCQA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41064" y="5568696"/>
            <a:ext cx="20116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475569"/>
                </a:solidFill>
                <a:latin typeface="Noto Sans CJK TC"/>
              </a:rPr>
              <a:t>Qwen1.5 LoRA matrix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4800600"/>
            <a:ext cx="2286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92824" y="4910328"/>
            <a:ext cx="20116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59669"/>
                </a:solidFill>
                <a:latin typeface="Noto Sans CJK TC"/>
              </a:rPr>
              <a:t>Feasibility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2824" y="51846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Noto Sans CJK TC"/>
              </a:rPr>
              <a:t>Qwen2.5-VL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2824" y="5568696"/>
            <a:ext cx="20116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475569"/>
                </a:solidFill>
                <a:latin typeface="Noto Sans CJK TC"/>
              </a:rPr>
              <a:t>4-bit QLoRA diagnostics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4800600"/>
            <a:ext cx="2286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44584" y="4910328"/>
            <a:ext cx="20116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59669"/>
                </a:solidFill>
                <a:latin typeface="Noto Sans CJK TC"/>
              </a:rPr>
              <a:t>Method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44584" y="51846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Noto Sans CJK TC"/>
              </a:rPr>
              <a:t>CAA-v2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4584" y="5568696"/>
            <a:ext cx="20116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475569"/>
                </a:solidFill>
                <a:latin typeface="Noto Sans CJK TC"/>
              </a:rPr>
              <a:t>Clockless adapter aggregation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Noto Sans CJK TC"/>
              </a:rPr>
              <a:t>00 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Noto Sans CJK TC"/>
              </a:rPr>
              <a:t>DEMO-oriented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155680" cy="228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Noto Sans CJK TC"/>
              </a:rPr>
              <a:t>PP-DMA DEMO | Privacy-Preserving Distributed Model Adaptation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08760"/>
            <a:ext cx="9966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1E293B"/>
                </a:solidFill>
                <a:latin typeface="Noto Sans CJK TC"/>
              </a:defRPr>
            </a:pPr>
            <a:r>
              <a:t>01 Introduction：醫療資料不能集中，分散式訓練又會遇到 slow / stale clients。</a:t>
            </a:r>
          </a:p>
          <a:p>
            <a:pPr>
              <a:spcAft>
                <a:spcPts val="800"/>
              </a:spcAft>
              <a:defRPr sz="2100">
                <a:solidFill>
                  <a:srgbClr val="1E293B"/>
                </a:solidFill>
                <a:latin typeface="Noto Sans CJK TC"/>
              </a:defRPr>
            </a:pPr>
            <a:r>
              <a:t>02 Methodology：CAA-v2 從 full-model delta 改成 LoRA / QLoRA adapter delta。</a:t>
            </a:r>
          </a:p>
          <a:p>
            <a:pPr>
              <a:spcAft>
                <a:spcPts val="800"/>
              </a:spcAft>
              <a:defRPr sz="2100">
                <a:solidFill>
                  <a:srgbClr val="1E293B"/>
                </a:solidFill>
                <a:latin typeface="Noto Sans CJK TC"/>
              </a:defRPr>
            </a:pPr>
            <a:r>
              <a:t>03 Experiment Results：Qwen3-VL main demo、本機 Text MCQA、本機 Qwen2.5-VL feasibility。</a:t>
            </a:r>
          </a:p>
          <a:p>
            <a:pPr>
              <a:spcAft>
                <a:spcPts val="800"/>
              </a:spcAft>
              <a:defRPr sz="2100">
                <a:solidFill>
                  <a:srgbClr val="1E293B"/>
                </a:solidFill>
                <a:latin typeface="Noto Sans CJK TC"/>
              </a:defRPr>
            </a:pPr>
            <a:r>
              <a:t>04 Conclusion：CAA-v2 在 VQA pilot 追平 Sync，且是 async-family 最佳方法。</a:t>
            </a:r>
          </a:p>
          <a:p>
            <a:pPr>
              <a:spcAft>
                <a:spcPts val="800"/>
              </a:spcAft>
              <a:defRPr sz="2100">
                <a:solidFill>
                  <a:srgbClr val="1E293B"/>
                </a:solidFill>
                <a:latin typeface="Noto Sans CJK TC"/>
              </a:defRPr>
            </a:pPr>
            <a:r>
              <a:t>05 Future Work：更大 VQA、paired before/after、real hospital non-IID traces。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Noto Sans CJK TC"/>
              </a:rPr>
              <a:t>01 INTRODUCTION｜Why Privacy-Preserving Distributed Adaptation?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Noto Sans CJK TC"/>
              </a:rPr>
              <a:t>從大家熟悉的醫院場景切入。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155680" cy="228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Noto Sans CJK TC"/>
              </a:rPr>
              <a:t>PP-DMA DEMO | Privacy-Preserving Distributed Model Adaptation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E293B"/>
                </a:solidFill>
                <a:latin typeface="Noto Sans CJK TC"/>
              </a:defRPr>
            </a:pPr>
            <a:r>
              <a:t>醫院有影像、病歷、QA 標註，但 raw data 不能任意集中。</a:t>
            </a:r>
          </a:p>
          <a:p>
            <a:pPr>
              <a:spcAft>
                <a:spcPts val="800"/>
              </a:spcAft>
              <a:defRPr sz="1900">
                <a:solidFill>
                  <a:srgbClr val="1E293B"/>
                </a:solidFill>
                <a:latin typeface="Noto Sans CJK TC"/>
              </a:defRPr>
            </a:pPr>
            <a:r>
              <a:t>不同醫院 GPU、網路、工作量不同；同步 FL 會被慢節點拖住。</a:t>
            </a:r>
          </a:p>
          <a:p>
            <a:pPr>
              <a:spcAft>
                <a:spcPts val="800"/>
              </a:spcAft>
              <a:defRPr sz="1900">
                <a:solidFill>
                  <a:srgbClr val="1E293B"/>
                </a:solidFill>
                <a:latin typeface="Noto Sans CJK TC"/>
              </a:defRPr>
            </a:pPr>
            <a:r>
              <a:t>非同步 FL 不等待，但會產生 stale / conflicting updates。</a:t>
            </a:r>
          </a:p>
          <a:p>
            <a:pPr>
              <a:spcAft>
                <a:spcPts val="800"/>
              </a:spcAft>
              <a:defRPr sz="1900">
                <a:solidFill>
                  <a:srgbClr val="1E293B"/>
                </a:solidFill>
                <a:latin typeface="Noto Sans CJK TC"/>
              </a:defRPr>
            </a:pPr>
            <a:r>
              <a:t>LLM/MLLM 更適合 demo：可以直接展示模型回答 medical QA/VQA 是否變好。</a:t>
            </a:r>
          </a:p>
        </p:txBody>
      </p:sp>
      <p:pic>
        <p:nvPicPr>
          <p:cNvPr id="7" name="Picture 6" descr="final_evidence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17320"/>
            <a:ext cx="5212080" cy="15201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Noto Sans CJK TC"/>
              </a:rPr>
              <a:t>01 INTRODUCTION｜DEMO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Noto Sans CJK TC"/>
              </a:rPr>
              <a:t>今天主軸不是宣稱 SOTA，而是展示可行的分散式 AI adaptation。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155680" cy="228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Noto Sans CJK TC"/>
              </a:rPr>
              <a:t>PP-DMA DEMO | Privacy-Preserving Distributed Model Adaptation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1E293B"/>
                </a:solidFill>
                <a:latin typeface="Noto Sans CJK TC"/>
              </a:defRPr>
            </a:pPr>
            <a:r>
              <a:t>我們要展示：同一個 clockless async FL idea 可以從 CNN biomedical classification 延伸到 LLM/MLLM adapter training。</a:t>
            </a:r>
          </a:p>
          <a:p>
            <a:pPr>
              <a:spcAft>
                <a:spcPts val="800"/>
              </a:spcAft>
              <a:defRPr sz="2100">
                <a:solidFill>
                  <a:srgbClr val="1E293B"/>
                </a:solidFill>
                <a:latin typeface="Noto Sans CJK TC"/>
              </a:defRPr>
            </a:pPr>
            <a:r>
              <a:t>模型不交換 raw image / raw question，只交換 LoRA / QLoRA adapter deltas。</a:t>
            </a:r>
          </a:p>
          <a:p>
            <a:pPr>
              <a:spcAft>
                <a:spcPts val="800"/>
              </a:spcAft>
              <a:defRPr sz="2100">
                <a:solidFill>
                  <a:srgbClr val="1E293B"/>
                </a:solidFill>
                <a:latin typeface="Noto Sans CJK TC"/>
              </a:defRPr>
            </a:pPr>
            <a:r>
              <a:t>Closed-ended VQA 將答案限制為 A/B/C/D，因此可以用 option accuracy 做穩定 demo。</a:t>
            </a:r>
          </a:p>
          <a:p>
            <a:pPr>
              <a:spcAft>
                <a:spcPts val="800"/>
              </a:spcAft>
              <a:defRPr sz="2100">
                <a:solidFill>
                  <a:srgbClr val="1E293B"/>
                </a:solidFill>
                <a:latin typeface="Noto Sans CJK TC"/>
              </a:defRPr>
            </a:pPr>
            <a:r>
              <a:t>主要結果用同學 Qwen3-VL + PMC-VQA；本機結果提供 multi-seed support 與 real Qwen2.5-VL feasibility。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Noto Sans CJK TC"/>
              </a:rPr>
              <a:t>02 METHODOLOGY｜Baseline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Noto Sans CJK TC"/>
              </a:rPr>
              <a:t>比較的是 server 如何處理不同時間抵達的 adapter updates。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155680" cy="228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Noto Sans CJK TC"/>
              </a:rPr>
              <a:t>PP-DMA DEMO | Privacy-Preserving Distributed Model Adaptation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Noto Sans CJK TC"/>
              </a:defRPr>
            </a:pPr>
            <a:r>
              <a:t>Sync FedAvg：server 等齊 client adapter updates，再平均。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Noto Sans CJK TC"/>
              </a:defRPr>
            </a:pPr>
            <a:r>
              <a:t>Naive Async：adapter update 到就套用，不判斷 stale/conflict。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Noto Sans CJK TC"/>
              </a:defRPr>
            </a:pPr>
            <a:r>
              <a:t>Staleness Async：只用 logical staleness 調小更新幅度。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Noto Sans CJK TC"/>
              </a:defRPr>
            </a:pPr>
            <a:r>
              <a:t>FedBuff：先收 B 個 async adapter updates，再做 buffered aggregation。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Noto Sans CJK TC"/>
              </a:defRPr>
            </a:pPr>
            <a:r>
              <a:t>CAA-v2：buffer 後再看方向一致性、server trajectory、client fairness。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25880"/>
            <a:ext cx="2240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47104" y="1435607"/>
            <a:ext cx="19659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59669"/>
                </a:solidFill>
                <a:latin typeface="Noto Sans CJK TC"/>
              </a:rPr>
              <a:t>Fair Budget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47104" y="170992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Noto Sans CJK TC"/>
              </a:rPr>
              <a:t>events = rounds × clients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2093976"/>
            <a:ext cx="19659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475569"/>
                </a:solidFill>
                <a:latin typeface="Noto Sans CJK TC"/>
              </a:rPr>
              <a:t>避免 async 少訓練造成不公平比較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1325880"/>
            <a:ext cx="2240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53144" y="1435607"/>
            <a:ext cx="19659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59669"/>
                </a:solidFill>
                <a:latin typeface="Noto Sans CJK TC"/>
              </a:rPr>
              <a:t>Clockless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53144" y="170992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Noto Sans CJK TC"/>
              </a:rPr>
              <a:t>server 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53144" y="2093976"/>
            <a:ext cx="19659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475569"/>
                </a:solidFill>
                <a:latin typeface="Noto Sans CJK TC"/>
              </a:rPr>
              <a:t>只用 logical version 估 staleness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743200"/>
            <a:ext cx="2240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47104" y="2852928"/>
            <a:ext cx="19659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59669"/>
                </a:solidFill>
                <a:latin typeface="Noto Sans CJK TC"/>
              </a:rPr>
              <a:t>Train Unit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312724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Noto Sans CJK TC"/>
              </a:rPr>
              <a:t>LoRA / QLoRA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7104" y="3511296"/>
            <a:ext cx="19659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475569"/>
                </a:solidFill>
                <a:latin typeface="Noto Sans CJK TC"/>
              </a:rPr>
              <a:t>base model frozen, adapter updated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2743200"/>
            <a:ext cx="2240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53144" y="2852928"/>
            <a:ext cx="19659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59669"/>
                </a:solidFill>
                <a:latin typeface="Noto Sans CJK TC"/>
              </a:rPr>
              <a:t>Eval Unit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3144" y="312724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Noto Sans CJK TC"/>
              </a:rPr>
              <a:t>A/B/C/D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53144" y="3511296"/>
            <a:ext cx="19659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475569"/>
                </a:solidFill>
                <a:latin typeface="Noto Sans CJK TC"/>
              </a:rPr>
              <a:t>closed-ended parser + accuracy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251960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59669"/>
                </a:solidFill>
                <a:latin typeface="Noto Sans CJK TC"/>
              </a:rPr>
              <a:t>Key idea: we do not synchronize clocks or raw data; we compare how the server aggregates adapter deltas under async arrivals.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Noto Sans CJK TC"/>
              </a:rPr>
              <a:t>02 METHODOLOGY｜CAA-v2-LoRA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Noto Sans CJK TC"/>
              </a:rPr>
              <a:t>把 CAA-v2 從 CNN full model 改成 LLM/MLLM adapter aggregation。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155680" cy="228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Noto Sans CJK TC"/>
              </a:rPr>
              <a:t>PP-DMA DEMO | Privacy-Preserving Distributed Model Adaptation</a:t>
            </a:r>
          </a:p>
        </p:txBody>
      </p:sp>
      <p:pic>
        <p:nvPicPr>
          <p:cNvPr id="6" name="Picture 5" descr="final_caa_v2_lora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6537960" cy="236952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06640" y="1298448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59669"/>
                </a:solidFill>
                <a:latin typeface="Noto Sans CJK TC"/>
              </a:rPr>
              <a:t>Server-side rule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1691640"/>
            <a:ext cx="4343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Noto Sans CJK TC"/>
              </a:defRPr>
            </a:pPr>
            <a:r>
              <a:t>Client starts from server adapter version k.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Noto Sans CJK TC"/>
              </a:defRPr>
            </a:pPr>
            <a:r>
              <a:t>Local training updates only LoRA / QLoRA adapter.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Noto Sans CJK TC"/>
              </a:defRPr>
            </a:pPr>
            <a:r>
              <a:t>delta_i = adapter_i − adapter_at_version_k.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Noto Sans CJK TC"/>
              </a:defRPr>
            </a:pPr>
            <a:r>
              <a:t>tau_i = current_server_version − k.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Noto Sans CJK TC"/>
              </a:defRPr>
            </a:pPr>
            <a:r>
              <a:t>Buffer B deltas, then aggregate.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4434840"/>
            <a:ext cx="4343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F172A"/>
                </a:solidFill>
                <a:latin typeface="Noto Sans CJK TC"/>
              </a:rPr>
              <a:t>raw_weight_i = n_i · staleness_decay(tau_i) · agreement_i · fairness_i
adapter_new = adapter_cur + alpha_t · Σ normalized_weight_i · clipped(delta_i)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5577840"/>
            <a:ext cx="4343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Noto Sans CJK TC"/>
              </a:rPr>
              <a:t>This is still async: the server never waits for all clients; logical version is used only to measure staleness.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Noto Sans CJK TC"/>
              </a:rPr>
              <a:t>02 METHODOLOGY｜What Changed for LLM / MLLM?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Noto Sans CJK TC"/>
              </a:rPr>
              <a:t>方法小改，但系統意義更清楚。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155680" cy="228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Noto Sans CJK TC"/>
              </a:rPr>
              <a:t>PP-DMA DEMO | Privacy-Preserving Distributed Model Adaptation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258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Noto Sans CJK TC"/>
              </a:defRPr>
            </a:pPr>
            <a:r>
              <a:t>Base model frozen：Qwen / Qwen-VL 權重不做 federated averaging，只同步小型 adapter。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Noto Sans CJK TC"/>
              </a:defRPr>
            </a:pPr>
            <a:r>
              <a:t>Adapter delta aggregation：server 聚合 LoRA / QLoRA delta，不聚合 2B/3B full weights。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Noto Sans CJK TC"/>
              </a:defRPr>
            </a:pPr>
            <a:r>
              <a:t>Clockless signals unchanged：logical staleness、direction agreement、server trajectory EMA、client fairness credit。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Noto Sans CJK TC"/>
              </a:defRPr>
            </a:pPr>
            <a:r>
              <a:t>Closed-ended QA/VQA：prompt 要求 one-letter answer，parser 統一成 A/B/C/D accuracy 與 invalid answer rate。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Noto Sans CJK TC"/>
              </a:defRPr>
            </a:pPr>
            <a:r>
              <a:t>Distributed-system claim：我們驗證的是 no-clock async adapter adaptation，不是 LLM/MLLM SOTA fine-tuning。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Noto Sans CJK TC"/>
              </a:rPr>
              <a:t>03 EXPERIMENT RESULTS｜Evidence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Noto Sans CJK TC"/>
              </a:rPr>
              <a:t>三層結果分開解讀，不混成同一個統計 claim。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155680" cy="228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Noto Sans CJK TC"/>
              </a:rPr>
              <a:t>PP-DMA DEMO | Privacy-Preserving Distributed Model Adaptation</a:t>
            </a:r>
          </a:p>
        </p:txBody>
      </p:sp>
      <p:pic>
        <p:nvPicPr>
          <p:cNvPr id="6" name="Picture 5" descr="final_evidence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6583680" cy="1920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35240" y="1325880"/>
            <a:ext cx="3840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Noto Sans CJK TC"/>
              </a:defRPr>
            </a:pPr>
            <a:r>
              <a:t>Main VQA demo：Qwen3-VL-2B + PMC-VQA，直接支持 DEMO 主軸。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Noto Sans CJK TC"/>
              </a:defRPr>
            </a:pPr>
            <a:r>
              <a:t>Quantitative support：Qwen1.5-0.5B Text MCQA multi-seed。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Noto Sans CJK TC"/>
              </a:defRPr>
            </a:pPr>
            <a:r>
              <a:t>Real MLLM feasibility：Qwen2.5-VL-3B 4-bit QLoRA，小矩陣與 diagnostics。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Noto Sans CJK TC"/>
              </a:defRPr>
            </a:pPr>
            <a:r>
              <a:t>Proxy / real / peer results 分開標示，避免誇大。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Noto Sans CJK TC"/>
              </a:rPr>
              <a:t>03 RESULTS｜Main Demo: Qwen3-VL + PMC-VQA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Noto Sans CJK TC"/>
              </a:rPr>
              <a:t>同學 branch `vqa-fl-results`：100-example eval pilot。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155680" cy="228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Noto Sans CJK TC"/>
              </a:rPr>
              <a:t>PP-DMA DEMO | Privacy-Preserving Distributed Model Adaptation</a:t>
            </a:r>
          </a:p>
        </p:txBody>
      </p:sp>
      <p:pic>
        <p:nvPicPr>
          <p:cNvPr id="6" name="Picture 5" descr="final_qwen3_vl_pmc_vq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6858000" cy="397300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8120" y="141732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Noto Sans CJK TC"/>
              </a:defRPr>
            </a:pPr>
            <a:r>
              <a:t>CAA-v2：47/100，追平 Sync FedAvg。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Noto Sans CJK TC"/>
              </a:defRPr>
            </a:pPr>
            <a:r>
              <a:t>Naive Async：46/100，接近但略低。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Noto Sans CJK TC"/>
              </a:defRPr>
            </a:pPr>
            <a:r>
              <a:t>Staleness Async：45/100；FedBuff：44/100。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Noto Sans CJK TC"/>
              </a:defRPr>
            </a:pPr>
            <a:r>
              <a:t>此 run 是 single-seed pilot；claim 是「CAA-v2 reaches Sync-level performance」，不是統計 SOTA。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Noto Sans CJK TC"/>
              </a:rPr>
              <a:t>03 RESULTS｜Why This Is Good for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Noto Sans CJK TC"/>
              </a:rPr>
              <a:t>結果和系統概念可以直接連起來。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155680" cy="228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Noto Sans CJK TC"/>
              </a:rPr>
              <a:t>PP-DMA DEMO | Privacy-Preserving Distributed Model Adaptation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1E293B"/>
                </a:solidFill>
                <a:latin typeface="Noto Sans CJK TC"/>
              </a:defRPr>
            </a:pPr>
            <a:r>
              <a:t>Sync FedAvg 是最穩定 baseline，但需要 barrier。</a:t>
            </a:r>
          </a:p>
          <a:p>
            <a:pPr>
              <a:spcAft>
                <a:spcPts val="800"/>
              </a:spcAft>
              <a:defRPr sz="2100">
                <a:solidFill>
                  <a:srgbClr val="1E293B"/>
                </a:solidFill>
                <a:latin typeface="Noto Sans CJK TC"/>
              </a:defRPr>
            </a:pPr>
            <a:r>
              <a:t>CAA-v2 在不依賴 global physical clock 的 async-family setting 中追平 Sync。</a:t>
            </a:r>
          </a:p>
          <a:p>
            <a:pPr>
              <a:spcAft>
                <a:spcPts val="800"/>
              </a:spcAft>
              <a:defRPr sz="2100">
                <a:solidFill>
                  <a:srgbClr val="1E293B"/>
                </a:solidFill>
                <a:latin typeface="Noto Sans CJK TC"/>
              </a:defRPr>
            </a:pPr>
            <a:r>
              <a:t>相較 staleness-only，CAA-v2 不只看 update age，也看 adapter delta 方向是否和群體/server trajectory 一致。</a:t>
            </a:r>
          </a:p>
          <a:p>
            <a:pPr>
              <a:spcAft>
                <a:spcPts val="800"/>
              </a:spcAft>
              <a:defRPr sz="2100">
                <a:solidFill>
                  <a:srgbClr val="1E293B"/>
                </a:solidFill>
                <a:latin typeface="Noto Sans CJK TC"/>
              </a:defRPr>
            </a:pPr>
            <a:r>
              <a:t>這讓我們可以把 demo 講成：不是單純加速訓練，而是在 no-clock distributed setting 下控制 stale/conflicting adapter updates。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Noto Sans CJK TC"/>
              </a:rPr>
              <a:t>03 RESULTS｜Text MCQA Multi-Seed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Noto Sans CJK TC"/>
              </a:rPr>
              <a:t>本機 Qwen1.5-0.5B LoRA：MMLU / MedMCQA / MedQA-USMLE / PubMedQA。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155680" cy="228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Noto Sans CJK TC"/>
              </a:rPr>
              <a:t>PP-DMA DEMO | Privacy-Preserving Distributed Model Adaptation</a:t>
            </a:r>
          </a:p>
        </p:txBody>
      </p:sp>
      <p:pic>
        <p:nvPicPr>
          <p:cNvPr id="6" name="Picture 5" descr="final_text_mcqa_best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6766560" cy="38678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41732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Noto Sans CJK TC"/>
              </a:defRPr>
            </a:pPr>
            <a:r>
              <a:t>CAA-v2 best mean 約 38.7%，高於 FedBuff / Naive / Staleness / Sync。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Noto Sans CJK TC"/>
              </a:defRPr>
            </a:pPr>
            <a:r>
              <a:t>Sync final mean 約 35.4%，CAA-v2 final 約 34.9%。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Noto Sans CJK TC"/>
              </a:defRPr>
            </a:pPr>
            <a:r>
              <a:t>解讀：CAA-v2 peak 有優勢；final stability 還不是全面勝出。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Noto Sans CJK TC"/>
              </a:defRPr>
            </a:pPr>
            <a:r>
              <a:t>這是支撐性 matrix，不是 demo headline。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Noto Sans CJK TC"/>
              </a:rPr>
              <a:t>03 RESULTS｜Real Qwen2.5-VL Feasibility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Noto Sans CJK TC"/>
              </a:rPr>
              <a:t>本機 Qwen2.5-VL-3B-Instruct 4-bit QLoRA。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155680" cy="228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Noto Sans CJK TC"/>
              </a:rPr>
              <a:t>PP-DMA DEMO | Privacy-Preserving Distributed Model Adaptation</a:t>
            </a:r>
          </a:p>
        </p:txBody>
      </p:sp>
      <p:pic>
        <p:nvPicPr>
          <p:cNvPr id="6" name="Picture 5" descr="final_qwenvl_checkpoint_valid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6766560" cy="43788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41732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Noto Sans CJK TC"/>
              </a:defRPr>
            </a:pPr>
            <a:r>
              <a:t>Closed-answer valid rate：100%。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Noto Sans CJK TC"/>
              </a:defRPr>
            </a:pPr>
            <a:r>
              <a:t>VQA-RAD diagnostics：CAA-v2 / FedBuff / Sync 約 75%，Naive/Staleness 約 81.25%。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Noto Sans CJK TC"/>
              </a:defRPr>
            </a:pPr>
            <a:r>
              <a:t>PathVQA diagnostics：Sync 約 62.5%，async family 約 50%。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Noto Sans CJK TC"/>
              </a:defRPr>
            </a:pPr>
            <a:r>
              <a:t>定位：real MLLM pipeline proof-of-feasibility，不作大規模勝出宣稱。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Noto Sans CJK TC"/>
              </a:rPr>
              <a:t>03 RESULTS｜Before / After Diagnostic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Noto Sans CJK TC"/>
              </a:rPr>
              <a:t>只展示合法 same-question comparison，不偽造訓練前後改善。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155680" cy="228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Noto Sans CJK TC"/>
              </a:rPr>
              <a:t>PP-DMA DEMO | Privacy-Preserving Distributed Model Adaptation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Noto Sans CJK TC"/>
              </a:defRPr>
            </a:pPr>
            <a:r>
              <a:t>已用同一批 fixed questions 跑 base Qwen2.5-VL、Sync、Naive Async、CAA-v2。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Noto Sans CJK TC"/>
              </a:defRPr>
            </a:pPr>
            <a:r>
              <a:t>這些 examples 是合法 same-question comparison：dataset、sample_index、question、image、gold answer 都相同。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Noto Sans CJK TC"/>
              </a:defRPr>
            </a:pPr>
            <a:r>
              <a:t>沒有找到 base wrong / CAA-v2 correct；但有 Naive 或 Sync 錯、CAA-v2 對的例子，可展示 aggregation 差異。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Noto Sans CJK TC"/>
              </a:defRPr>
            </a:pPr>
            <a:r>
              <a:t>報告時要說清楚：real Qwen2.5-VL 這部分是 feasibility diagnostic，不是大規模統計勝出。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Noto Sans CJK TC"/>
              </a:rPr>
              <a:t>03 RESULTS｜Paired DEMO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Noto Sans CJK TC"/>
              </a:rPr>
              <a:t>同一題目下比較 base / Sync / Naive / CAA-v2 的 closed-answer 行為。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155680" cy="228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Noto Sans CJK TC"/>
              </a:rPr>
              <a:t>PP-DMA DEMO | Privacy-Preserving Distributed Model Adaptation</a:t>
            </a:r>
          </a:p>
        </p:txBody>
      </p:sp>
      <p:pic>
        <p:nvPicPr>
          <p:cNvPr id="6" name="Picture 5" descr="final_paired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11155680" cy="39659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Noto Sans CJK TC"/>
              </a:rPr>
              <a:t>03 RESULTS｜Paired DEMO Example Images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Noto Sans CJK TC"/>
              </a:rPr>
              <a:t>四題同題 VQA examples：影像、問題、gold answer 與各方法輸出。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155680" cy="228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Noto Sans CJK TC"/>
              </a:rPr>
              <a:t>PP-DMA DEMO | Privacy-Preserving Distributed Model Adaptation</a:t>
            </a:r>
          </a:p>
        </p:txBody>
      </p:sp>
      <p:pic>
        <p:nvPicPr>
          <p:cNvPr id="6" name="Picture 5" descr="final_paired_image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170432"/>
            <a:ext cx="9372600" cy="528273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Noto Sans CJK TC"/>
              </a:rPr>
              <a:t>03 RESULTS｜Distributed Stress: Delay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Noto Sans CJK TC"/>
              </a:rPr>
              <a:t>VQA-RAD proxy stress，獨立於 headline mean±std。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155680" cy="228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Noto Sans CJK TC"/>
              </a:rPr>
              <a:t>PP-DMA DEMO | Privacy-Preserving Distributed Model Adaptation</a:t>
            </a:r>
          </a:p>
        </p:txBody>
      </p:sp>
      <p:pic>
        <p:nvPicPr>
          <p:cNvPr id="6" name="Picture 5" descr="final_delay_st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6766560" cy="416640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41732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Noto Sans CJK TC"/>
              </a:defRPr>
            </a:pPr>
            <a:r>
              <a:t>Naive/Staleness 平均 staleness 約 8；FedBuff/CAA-v2 約 1.5。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Noto Sans CJK TC"/>
              </a:defRPr>
            </a:pPr>
            <a:r>
              <a:t>Uniform delay：CAA-v2 final 75.0%。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Noto Sans CJK TC"/>
              </a:defRPr>
            </a:pPr>
            <a:r>
              <a:t>Lognormal delay：CAA-v2 final 74.3%。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Noto Sans CJK TC"/>
              </a:defRPr>
            </a:pPr>
            <a:r>
              <a:t>這是分散式系統重點：delay distribution 會改變 async training behavior。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Noto Sans CJK TC"/>
              </a:rPr>
              <a:t>03 RESULTS｜Existing vs 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Noto Sans CJK TC"/>
              </a:rPr>
              <a:t>把 borrowed components 和我們做的系統整合分清楚。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155680" cy="228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Noto Sans CJK TC"/>
              </a:rPr>
              <a:t>PP-DMA DEMO | Privacy-Preserving Distributed Model Adaptation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2588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Noto Sans CJK TC"/>
              </a:defRPr>
            </a:pPr>
            <a:r>
              <a:t>Existing：FedAvg、FedBuff、staleness-aware aggregation。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Noto Sans CJK TC"/>
              </a:defRPr>
            </a:pPr>
            <a:r>
              <a:t>Existing：Qwen / Qwen2.5-VL、LoRA / QLoRA、PMC-VQA / VQA-RAD / MedQA。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Noto Sans CJK TC"/>
              </a:defRPr>
            </a:pPr>
            <a:r>
              <a:t>Existing：closed-ended option accuracy parser idea。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2588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Noto Sans CJK TC"/>
              </a:defRPr>
            </a:pPr>
            <a:r>
              <a:t>Ours：clockless async FL simulator / analysis pipeline。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Noto Sans CJK TC"/>
              </a:defRPr>
            </a:pPr>
            <a:r>
              <a:t>Ours：CAA-v2 agreement + fairness + adaptive alpha rule。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Noto Sans CJK TC"/>
              </a:defRPr>
            </a:pPr>
            <a:r>
              <a:t>Ours：adapter-level mapping and fair-budget comparison for medical LLM/MLLM demo。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Noto Sans CJK TC"/>
              </a:rPr>
              <a:t>04 CONCLUSION｜Final Claim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Noto Sans CJK TC"/>
              </a:rPr>
              <a:t>保守但站得住腳的 DEMO claim。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155680" cy="228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Noto Sans CJK TC"/>
              </a:rPr>
              <a:t>PP-DMA DEMO | Privacy-Preserving Distributed Model Adaptation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258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1E293B"/>
                </a:solidFill>
                <a:latin typeface="Noto Sans CJK TC"/>
              </a:defRPr>
            </a:pPr>
            <a:r>
              <a:t>在 Qwen3-VL PMC-VQA pilot 中，CAA-v2 追平 Sync FedAvg，且是 async-family 最佳方法。</a:t>
            </a:r>
          </a:p>
          <a:p>
            <a:pPr>
              <a:spcAft>
                <a:spcPts val="800"/>
              </a:spcAft>
              <a:defRPr sz="2100">
                <a:solidFill>
                  <a:srgbClr val="1E293B"/>
                </a:solidFill>
                <a:latin typeface="Noto Sans CJK TC"/>
              </a:defRPr>
            </a:pPr>
            <a:r>
              <a:t>在本機 Text MCQA matrix 中，CAA-v2 提高 peak accuracy；final stability 仍需要改進。</a:t>
            </a:r>
          </a:p>
          <a:p>
            <a:pPr>
              <a:spcAft>
                <a:spcPts val="800"/>
              </a:spcAft>
              <a:defRPr sz="2100">
                <a:solidFill>
                  <a:srgbClr val="1E293B"/>
                </a:solidFill>
                <a:latin typeface="Noto Sans CJK TC"/>
              </a:defRPr>
            </a:pPr>
            <a:r>
              <a:t>Real Qwen2.5-VL 小矩陣證明 QLoRA adapter aggregation pipeline 可行。</a:t>
            </a:r>
          </a:p>
          <a:p>
            <a:pPr>
              <a:spcAft>
                <a:spcPts val="800"/>
              </a:spcAft>
              <a:defRPr sz="2100">
                <a:solidFill>
                  <a:srgbClr val="1E293B"/>
                </a:solidFill>
                <a:latin typeface="Noto Sans CJK TC"/>
              </a:defRPr>
            </a:pPr>
            <a:r>
              <a:t>總結：PP-DMA 展示 privacy-preserving、clockless、adapter-level distributed model adaptation 的可行性。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Noto Sans CJK TC"/>
              </a:rPr>
              <a:t>04 CONCLUSION｜Limitations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Noto Sans CJK TC"/>
              </a:rPr>
              <a:t>把邊界講清楚，比過度宣稱更可靠。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155680" cy="228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Noto Sans CJK TC"/>
              </a:rPr>
              <a:t>PP-DMA DEMO | Privacy-Preserving Distributed Model Adaptation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258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1E293B"/>
                </a:solidFill>
                <a:latin typeface="Noto Sans CJK TC"/>
              </a:defRPr>
            </a:pPr>
            <a:r>
              <a:t>Qwen3-VL main result 是 single-seed pilot，尚未有 large multi-seed statistical result。</a:t>
            </a:r>
          </a:p>
          <a:p>
            <a:pPr>
              <a:spcAft>
                <a:spcPts val="800"/>
              </a:spcAft>
              <a:defRPr sz="2100">
                <a:solidFill>
                  <a:srgbClr val="1E293B"/>
                </a:solidFill>
                <a:latin typeface="Noto Sans CJK TC"/>
              </a:defRPr>
            </a:pPr>
            <a:r>
              <a:t>Real Qwen2.5-VL 是小樣本 feasibility，不代表 MLLM SOTA。</a:t>
            </a:r>
          </a:p>
          <a:p>
            <a:pPr>
              <a:spcAft>
                <a:spcPts val="800"/>
              </a:spcAft>
              <a:defRPr sz="2100">
                <a:solidFill>
                  <a:srgbClr val="1E293B"/>
                </a:solidFill>
                <a:latin typeface="Noto Sans CJK TC"/>
              </a:defRPr>
            </a:pPr>
            <a:r>
              <a:t>目前沒有合法 same-question base-wrong / FL-correct example，未來需要固定題組 paired inference。</a:t>
            </a:r>
          </a:p>
          <a:p>
            <a:pPr>
              <a:spcAft>
                <a:spcPts val="800"/>
              </a:spcAft>
              <a:defRPr sz="2100">
                <a:solidFill>
                  <a:srgbClr val="1E293B"/>
                </a:solidFill>
                <a:latin typeface="Noto Sans CJK TC"/>
              </a:defRPr>
            </a:pPr>
            <a:r>
              <a:t>醫療應用仍需要 macro-F1、per-class recall、safety review、privacy/security analysis。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Noto Sans CJK TC"/>
              </a:rPr>
              <a:t>05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Noto Sans CJK TC"/>
              </a:rPr>
              <a:t>中午 DEMO 後最值得補的方向。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155680" cy="228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4A3B8"/>
                </a:solidFill>
                <a:latin typeface="Noto Sans CJK TC"/>
              </a:rPr>
              <a:t>PP-DMA DEMO | Privacy-Preserving Distributed Model Adaptation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258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1E293B"/>
                </a:solidFill>
                <a:latin typeface="Noto Sans CJK TC"/>
              </a:defRPr>
            </a:pPr>
            <a:r>
              <a:t>固定 VQA paired evaluation set：Base / Sync / Naive / CAA-v2 都跑同一批 questions。</a:t>
            </a:r>
          </a:p>
          <a:p>
            <a:pPr>
              <a:spcAft>
                <a:spcPts val="800"/>
              </a:spcAft>
              <a:defRPr sz="2100">
                <a:solidFill>
                  <a:srgbClr val="1E293B"/>
                </a:solidFill>
                <a:latin typeface="Noto Sans CJK TC"/>
              </a:defRPr>
            </a:pPr>
            <a:r>
              <a:t>擴大 PMC-VQA / VQA-RAD / PathVQA sample size 和 seeds。</a:t>
            </a:r>
          </a:p>
          <a:p>
            <a:pPr>
              <a:spcAft>
                <a:spcPts val="800"/>
              </a:spcAft>
              <a:defRPr sz="2100">
                <a:solidFill>
                  <a:srgbClr val="1E293B"/>
                </a:solidFill>
                <a:latin typeface="Noto Sans CJK TC"/>
              </a:defRPr>
            </a:pPr>
            <a:r>
              <a:t>加入 non-IID hospital split：不同醫院看到不同器官、影像 modality、問題類型。</a:t>
            </a:r>
          </a:p>
          <a:p>
            <a:pPr>
              <a:spcAft>
                <a:spcPts val="800"/>
              </a:spcAft>
              <a:defRPr sz="2100">
                <a:solidFill>
                  <a:srgbClr val="1E293B"/>
                </a:solidFill>
                <a:latin typeface="Noto Sans CJK TC"/>
              </a:defRPr>
            </a:pPr>
            <a:r>
              <a:t>加入 real network trace：用真實 delay / straggler distribution 測試 async behavior。</a:t>
            </a:r>
          </a:p>
          <a:p>
            <a:pPr>
              <a:spcAft>
                <a:spcPts val="800"/>
              </a:spcAft>
              <a:defRPr sz="2100">
                <a:solidFill>
                  <a:srgbClr val="1E293B"/>
                </a:solidFill>
                <a:latin typeface="Noto Sans CJK TC"/>
              </a:defRPr>
            </a:pPr>
            <a:r>
              <a:t>探索 swarm learning：移除 central server，但保留 CAA-style update validation。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57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0F172A"/>
                </a:solidFill>
                <a:latin typeface="Noto Sans CJK TC"/>
              </a:rPr>
              <a:t>Thanks for listening!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06324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59669"/>
                </a:solidFill>
                <a:latin typeface="Noto Sans CJK TC"/>
              </a:rPr>
              <a:t>DEMO: privacy-preserving, clockless, adapter-level distributed model adaptation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