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8" Type="http://schemas.openxmlformats.org/officeDocument/2006/relationships/viewProps" Target="viewProps.xml" /><Relationship Id="rId3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0" Type="http://schemas.openxmlformats.org/officeDocument/2006/relationships/tableStyles" Target="tableStyles.xml" /><Relationship Id="rId3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Clockless Federated Adaptation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無全域時鐘下的非同步醫學影像聯邦學習</a:t>
            </a:r>
          </a:p>
          <a:p>
            <a:pPr lvl="0" indent="0" marL="0">
              <a:buNone/>
            </a:pPr>
            <a:r>
              <a:rPr/>
              <a:t>Group 4：Asynchronous Distributed ML Adaptation</a:t>
            </a:r>
          </a:p>
          <a:p>
            <a:pPr lvl="0" indent="0" marL="0">
              <a:buNone/>
            </a:pPr>
            <a:r>
              <a:rPr/>
              <a:t>分散式系統期末 Proposal Deck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02 01 Motivation｜從醫院合作訓練開始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多家醫院想共同訓練醫學影像模型，但原始資料不能集中。</a:t>
            </a:r>
          </a:p>
          <a:p>
            <a:pPr lvl="0"/>
            <a:r>
              <a:rPr/>
              <a:t>醫院設備、網路、工作負載不同。</a:t>
            </a:r>
          </a:p>
          <a:p>
            <a:pPr lvl="0"/>
            <a:r>
              <a:rPr/>
              <a:t>有些 update 很快，有些 update 很晚。</a:t>
            </a:r>
          </a:p>
          <a:p>
            <a:pPr lvl="0"/>
            <a:r>
              <a:rPr/>
              <a:t>病人族群與影像分布不同。</a:t>
            </a:r>
          </a:p>
          <a:p>
            <a:pPr lvl="0" indent="0" marL="0">
              <a:buNone/>
            </a:pPr>
            <a:r>
              <a:rPr b="1"/>
              <a:t>問題：不等慢醫院會比較快，但晚到的 update 還可信嗎？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03 01 Motivation｜分散式系統核心矛盾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Sync FL: 等所有 client -&gt; 最慢節點決定速度
Async FL: 不等慢 client -&gt; 收到 stale / out-of-order update</a:t>
            </a:r>
          </a:p>
          <a:p>
            <a:pPr lvl="0" indent="0" marL="0">
              <a:buNone/>
            </a:pPr>
            <a:r>
              <a:rPr/>
              <a:t>本專案聚焦：</a:t>
            </a:r>
          </a:p>
          <a:p>
            <a:pPr lvl="0" indent="0" marL="1270000">
              <a:buNone/>
            </a:pPr>
            <a:r>
              <a:rPr sz="2000"/>
              <a:t>throughput vs consistency / convergence correctness</a:t>
            </a:r>
          </a:p>
          <a:p>
            <a:pPr lvl="0" indent="0" marL="0">
              <a:buNone/>
            </a:pPr>
            <a:r>
              <a:rPr/>
              <a:t>這是 distributed systems 的時間、順序與一致性問題，不只是分類模型問題。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04 02 Preliminary｜Sync vs Async FL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System 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 risk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Sync FedAvg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round barrier，等待 clients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straggler bottleneck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Naive Async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update 到就套用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stale update instability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Buffered Async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收 B 個 updates 再聚合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buffer 中仍可能有 conflict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05 02 Preliminary｜Logical Staleness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不假設 synchronized physical clock。</a:t>
            </a:r>
          </a:p>
          <a:p>
            <a:pPr lvl="0" indent="0">
              <a:buNone/>
            </a:pPr>
            <a:r>
              <a:rPr>
                <a:latin typeface="Courier"/>
              </a:rPr>
              <a:t>server_version = current global model version
client_start_version = version received by the client
staleness = server_version - client_start_version</a:t>
            </a:r>
          </a:p>
          <a:p>
            <a:pPr lvl="0" indent="0" marL="0">
              <a:buNone/>
            </a:pPr>
            <a:r>
              <a:rPr/>
              <a:t>這是 Lamport logical time 在 FL simulator 裡的對應：用 logical version 取代 wall-clock ordering。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06 03 Problem Formulation｜公平比較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Async 以前表現差，可能只是 update budget 少。</a:t>
            </a:r>
          </a:p>
          <a:p>
            <a:pPr lvl="0" indent="0">
              <a:buNone/>
            </a:pPr>
            <a:r>
              <a:rPr>
                <a:latin typeface="Courier"/>
              </a:rPr>
              <a:t>Sync update budget  = rounds × clients
Async update budget = events
Fair comparison     = events = rounds × clients</a:t>
            </a:r>
          </a:p>
          <a:p>
            <a:pPr lvl="0" indent="0" marL="0">
              <a:buNone/>
            </a:pPr>
            <a:r>
              <a:rPr/>
              <a:t>正式矩陣：</a:t>
            </a:r>
          </a:p>
          <a:p>
            <a:pPr lvl="0" indent="0">
              <a:buNone/>
            </a:pPr>
            <a:r>
              <a:rPr>
                <a:latin typeface="Courier"/>
              </a:rPr>
              <a:t>9 datasets × 6 methods × 3 seeds = 162 official runs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07 03 Problem Formulation｜評估指標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ML 指標：</a:t>
            </a:r>
          </a:p>
          <a:p>
            <a:pPr lvl="0" indent="0">
              <a:buNone/>
            </a:pPr>
            <a:r>
              <a:rPr>
                <a:latin typeface="Courier"/>
              </a:rPr>
              <a:t>best_acc, final_acc, stability_drop = best_acc - final_acc</a:t>
            </a:r>
          </a:p>
          <a:p>
            <a:pPr lvl="0" indent="0" marL="0">
              <a:buNone/>
            </a:pPr>
            <a:r>
              <a:rPr/>
              <a:t>Distributed systems 指標：</a:t>
            </a:r>
          </a:p>
          <a:p>
            <a:pPr lvl="0" indent="0">
              <a:buNone/>
            </a:pPr>
            <a:r>
              <a:rPr>
                <a:latin typeface="Courier"/>
              </a:rPr>
              <a:t>p95 staleness, simulated time, effective alpha,
client contribution Gini, time-to-accuracy</a:t>
            </a:r>
          </a:p>
          <a:p>
            <a:pPr lvl="0" indent="0" marL="0">
              <a:buNone/>
            </a:pPr>
            <a:r>
              <a:rPr b="1"/>
              <a:t>accuracy 是結果；staleness / delay / imbalance 解釋原因。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08 03 Architecture｜Event-Driven Clockless Simulator</a:t>
            </a:r>
          </a:p>
        </p:txBody>
      </p:sp>
      <p:pic>
        <p:nvPicPr>
          <p:cNvPr descr="assets/system_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1193800"/>
            <a:ext cx="6426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09 04 Methodology｜Baseline 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tests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Sync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upper reference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async staleness, but barrier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Naive Async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stateless async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throughput without correction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Staleness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logical-age correction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whether age alone is enough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FedBuff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buffered async 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whether buffering stabilizes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CAA-v1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agreement-aware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whether direction helps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CAA-v2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method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direction + trajectory + fairness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 04 Methodology｜CAA-v2 不只是 FedBuff</a:t>
            </a:r>
          </a:p>
        </p:txBody>
      </p:sp>
      <p:pic>
        <p:nvPicPr>
          <p:cNvPr descr="assets/proposal_component_sta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1193800"/>
            <a:ext cx="6426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 04 Methodology｜CAA-v2 Server Pipeline</a:t>
            </a:r>
          </a:p>
        </p:txBody>
      </p:sp>
      <p:pic>
        <p:nvPicPr>
          <p:cNvPr descr="assets/proposal_method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1193800"/>
            <a:ext cx="6426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 04 Methodology｜Server Decision Flow</a:t>
            </a:r>
          </a:p>
        </p:txBody>
      </p:sp>
      <p:pic>
        <p:nvPicPr>
          <p:cNvPr descr="assets/proposal_method_decis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1193800"/>
            <a:ext cx="6426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 04 Methodology｜核心數學式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每個 client update：</a:t>
            </a:r>
          </a:p>
          <a:p>
            <a:pPr lvl="0" indent="0">
              <a:buNone/>
            </a:pPr>
            <a:r>
              <a:rPr>
                <a:latin typeface="Courier"/>
              </a:rPr>
              <a:t>delta_i = client_model_i - model_at_client_start_i
tau_i   = server_version - client_start_version_i</a:t>
            </a:r>
          </a:p>
          <a:p>
            <a:pPr lvl="0" indent="0" marL="0">
              <a:buNone/>
            </a:pPr>
            <a:r>
              <a:rPr/>
              <a:t>CAA-v2 權重：</a:t>
            </a:r>
          </a:p>
          <a:p>
            <a:pPr lvl="0" indent="0">
              <a:buNone/>
            </a:pPr>
            <a:r>
              <a:rPr>
                <a:latin typeface="Courier"/>
              </a:rPr>
              <a:t>raw_weight_i = n_i × staleness_decay(tau_i)
             × agreement(delta_i, ref) × fairness_i</a:t>
            </a:r>
          </a:p>
          <a:p>
            <a:pPr lvl="0" indent="0" marL="0">
              <a:buNone/>
            </a:pPr>
            <a:r>
              <a:rPr/>
              <a:t>Server update：</a:t>
            </a:r>
          </a:p>
          <a:p>
            <a:pPr lvl="0" indent="0">
              <a:buNone/>
            </a:pPr>
            <a:r>
              <a:rPr>
                <a:latin typeface="Courier"/>
              </a:rPr>
              <a:t>w &lt;- w + alpha_buffer × weighted_average(delta_i)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 04 Methodology｜Reference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buffer_ref = weighted_average(delta_i, n_i × age_i)
server_ema = EMA(previous accepted server deltas)
ref        = blend(buffer_ref, server_ema)</a:t>
            </a:r>
          </a:p>
          <a:p>
            <a:pPr lvl="0" indent="0" marL="0">
              <a:buNone/>
            </a:pPr>
            <a:r>
              <a:rPr/>
              <a:t>直覺：</a:t>
            </a:r>
          </a:p>
          <a:p>
            <a:pPr lvl="0"/>
            <a:r>
              <a:rPr/>
              <a:t>buffer_ref：這批 updates 的群體方向。</a:t>
            </a:r>
          </a:p>
          <a:p>
            <a:pPr lvl="0"/>
            <a:r>
              <a:rPr/>
              <a:t>server_ema：近期 global model 真的往哪裡走。</a:t>
            </a:r>
          </a:p>
          <a:p>
            <a:pPr lvl="0"/>
            <a:r>
              <a:rPr/>
              <a:t>stale 且反向的 update 不應被盲目放大。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15 04 Methodology｜Clockless Signals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Uses physical clock?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staleness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server/client logical 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agreement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delta dot product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server trajectory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accepted server deltas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fairness credit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accepted contribution count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adaptive alpha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staleness + agreement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16 04 Methodology｜Novelty Boundary</a:t>
            </a:r>
          </a:p>
        </p:txBody>
      </p:sp>
      <p:pic>
        <p:nvPicPr>
          <p:cNvPr descr="assets/proposal_novelty_posi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95400" y="1193800"/>
            <a:ext cx="6540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17 05 Experiment Results｜Fairness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clients = 10
local_epochs = 1
batch_size = 128
lr = 0.01, cosine scheduler
seeds = 42, 43, 44
async delay = same heterogeneous setting
fair budget = async events = sync rounds × clients</a:t>
            </a:r>
          </a:p>
          <a:p>
            <a:pPr lvl="0" indent="0" marL="0">
              <a:buNone/>
            </a:pPr>
            <a:r>
              <a:rPr/>
              <a:t>正式比較不混用不同 backbone、delay、seed、local epochs 或 update budget。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18 05 Experiment Results｜Coverage</a:t>
            </a:r>
          </a:p>
        </p:txBody>
      </p:sp>
      <p:pic>
        <p:nvPicPr>
          <p:cNvPr descr="assets/proposal_dataset_method_heat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19200" y="1193800"/>
            <a:ext cx="669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19 05 Experiment Results｜Overall Dashboard</a:t>
            </a:r>
          </a:p>
        </p:txBody>
      </p:sp>
      <p:pic>
        <p:nvPicPr>
          <p:cNvPr descr="assets/proposal_results_dash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66800" y="1193800"/>
            <a:ext cx="7023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 05 Experiment Results｜CAA-v2 vs Sync</a:t>
            </a:r>
          </a:p>
        </p:txBody>
      </p:sp>
      <p:pic>
        <p:nvPicPr>
          <p:cNvPr descr="assets/proposal_caa_v2_g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47800" y="1193800"/>
            <a:ext cx="6248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21 05 Experiment Results｜Async-Sync Gap</a:t>
            </a:r>
          </a:p>
        </p:txBody>
      </p:sp>
      <p:pic>
        <p:nvPicPr>
          <p:cNvPr descr="assets/proposal_async_sync_gap_errorba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06500" y="1193800"/>
            <a:ext cx="6731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22 05 Experiment Results｜Stability Drop</a:t>
            </a:r>
          </a:p>
        </p:txBody>
      </p:sp>
      <p:pic>
        <p:nvPicPr>
          <p:cNvPr descr="assets/proposal_stability_drop_errorba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19200" y="1193800"/>
            <a:ext cx="6705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 05 Experiment Results｜System Metrics</a:t>
            </a:r>
          </a:p>
        </p:txBody>
      </p:sp>
      <p:pic>
        <p:nvPicPr>
          <p:cNvPr descr="assets/proposal_system_metric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7239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24 05 Experiment Results｜Non-IID Hospital Scenario</a:t>
            </a:r>
          </a:p>
        </p:txBody>
      </p:sp>
      <p:pic>
        <p:nvPicPr>
          <p:cNvPr descr="assets/proposal_non_iid_async_sync_g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08100" y="1193800"/>
            <a:ext cx="6515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25 05 Experiment Results｜Straggler Stress</a:t>
            </a:r>
          </a:p>
        </p:txBody>
      </p:sp>
      <p:pic>
        <p:nvPicPr>
          <p:cNvPr descr="assets/proposal_straggler_staleness_distribu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11300" y="1193800"/>
            <a:ext cx="6121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26 05 Experiment Results｜Simulated Time</a:t>
            </a:r>
          </a:p>
        </p:txBody>
      </p:sp>
      <p:pic>
        <p:nvPicPr>
          <p:cNvPr descr="assets/proposal_straggler_acc_vs_simulated_ti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35100" y="1193800"/>
            <a:ext cx="6273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27 05 Experiment Results｜Ablation</a:t>
            </a:r>
          </a:p>
        </p:txBody>
      </p:sp>
      <p:pic>
        <p:nvPicPr>
          <p:cNvPr descr="assets/proposal_caa_v2_ablation_best_ac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01700" y="1193800"/>
            <a:ext cx="7353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28 05 Experiment Results｜Final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正式 fair matrix：</a:t>
            </a:r>
          </a:p>
          <a:p>
            <a:pPr lvl="0" indent="0">
              <a:buNone/>
            </a:pPr>
            <a:r>
              <a:rPr>
                <a:latin typeface="Courier"/>
              </a:rPr>
              <a:t>CAA-v2 best  = 0.7169
CAA-v2 final = 0.7140
Sync final   = 0.7121
Naive final  = 0.7096</a:t>
            </a:r>
          </a:p>
          <a:p>
            <a:pPr lvl="0" indent="0" marL="0">
              <a:buNone/>
            </a:pPr>
            <a:r>
              <a:rPr/>
              <a:t>結論：CAA-v2 不是 universal winner，但它比 Naive 穩、比 staleness-only 不保守，並且在多數資料集接近或超過 Sync。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29 06 Challenges｜總覽</a:t>
            </a:r>
          </a:p>
        </p:txBody>
      </p:sp>
      <p:pic>
        <p:nvPicPr>
          <p:cNvPr descr="assets/proposal_challenge_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1193800"/>
            <a:ext cx="6426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30 06 Challenges｜No Global Clock, Stale, Conflict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三個問題會同時發生：</a:t>
            </a:r>
          </a:p>
          <a:p>
            <a:pPr lvl="0" indent="0">
              <a:buNone/>
            </a:pPr>
            <a:r>
              <a:rPr>
                <a:latin typeface="Courier"/>
              </a:rPr>
              <a:t>No global clock -&gt; cannot totally order distributed events
Stale update    -&gt; trained from old global model
Conflict update -&gt; non-IID direction differs from others</a:t>
            </a:r>
          </a:p>
          <a:p>
            <a:pPr lvl="0" indent="0" marL="0">
              <a:buNone/>
            </a:pPr>
            <a:r>
              <a:rPr/>
              <a:t>CAA-v2 的設計：logical staleness + direction agreement + server trajectory。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31 06 Challenges｜Fast Clients 與 Privacy 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Fast-client domination：</a:t>
            </a:r>
          </a:p>
          <a:p>
            <a:pPr lvl="0" indent="0">
              <a:buNone/>
            </a:pPr>
            <a:r>
              <a:rPr>
                <a:latin typeface="Courier"/>
              </a:rPr>
              <a:t>快醫院 arrival rate 高 -&gt; 可能長期主導 global model</a:t>
            </a:r>
          </a:p>
          <a:p>
            <a:pPr lvl="0" indent="0" marL="0">
              <a:buNone/>
            </a:pPr>
            <a:r>
              <a:rPr/>
              <a:t>Privacy tension：</a:t>
            </a:r>
          </a:p>
          <a:p>
            <a:pPr lvl="0" indent="0">
              <a:buNone/>
            </a:pPr>
            <a:r>
              <a:rPr>
                <a:latin typeface="Courier"/>
              </a:rPr>
              <a:t>CAA-v2 需要 delta direction / norm
secure aggregation 相容性仍需未來設計</a:t>
            </a:r>
          </a:p>
          <a:p>
            <a:pPr lvl="0" indent="0" marL="0">
              <a:buNone/>
            </a:pPr>
            <a:r>
              <a:rPr/>
              <a:t>所以目前主張是 system simulator / design extension，不宣稱完整 privacy solution。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32 07 Conclusion｜貢獻總結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用 logical version 建立 no-global-clock async FL simulator。</a:t>
            </a:r>
          </a:p>
          <a:p>
            <a:pPr lvl="0" indent="-342900" marL="342900">
              <a:buAutoNum type="arabicPeriod"/>
            </a:pPr>
            <a:r>
              <a:rPr/>
              <a:t>補上 fair update-budget protocol。</a:t>
            </a:r>
          </a:p>
          <a:p>
            <a:pPr lvl="0" indent="-342900" marL="342900">
              <a:buAutoNum type="arabicPeriod"/>
            </a:pPr>
            <a:r>
              <a:rPr/>
              <a:t>提出 CAA-v2：agreement + server trajectory + fairness credit。</a:t>
            </a:r>
          </a:p>
          <a:p>
            <a:pPr lvl="0" indent="-342900" marL="342900">
              <a:buAutoNum type="arabicPeriod"/>
            </a:pPr>
            <a:r>
              <a:rPr/>
              <a:t>用 9 datasets × 6 methods × 3 seeds 驗證。</a:t>
            </a:r>
          </a:p>
          <a:p>
            <a:pPr lvl="0" indent="-342900" marL="342900">
              <a:buAutoNum type="arabicPeriod"/>
            </a:pPr>
            <a:r>
              <a:rPr/>
              <a:t>用 staleness、simulated time、client Gini 補足 distributed systems 分析。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33 07 Conclusion｜Final Claim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Under a fair update budget, CAA-v2 makes clockless asynchronous FL approach Sync FedAvg across diverse MedMNIST datasets, while reducing the instability of Naive Async and avoiding the over-conservatism of staleness-only aggregation.</a:t>
            </a:r>
          </a:p>
          <a:p>
            <a:pPr lvl="0" indent="0" marL="0">
              <a:buNone/>
            </a:pPr>
            <a:r>
              <a:rPr/>
              <a:t>中文：</a:t>
            </a:r>
          </a:p>
          <a:p>
            <a:pPr lvl="0" indent="0" marL="1270000">
              <a:buNone/>
            </a:pPr>
            <a:r>
              <a:rPr sz="2000"/>
              <a:t>CAA-v2 讓無全域時鐘的非同步 FL 接近 Sync FedAvg，同時比 Naive Async 穩、比 staleness-only 不保守。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34 07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對比 FedStaleWeight、SEAFL、FedPSA、FedCompass。</a:t>
            </a:r>
          </a:p>
          <a:p>
            <a:pPr lvl="0"/>
            <a:r>
              <a:rPr/>
              <a:t>non-IID / straggler stress 增加 multi-seed。</a:t>
            </a:r>
          </a:p>
          <a:p>
            <a:pPr lvl="0"/>
            <a:r>
              <a:rPr/>
              <a:t>加入 real network / hospital-like traces。</a:t>
            </a:r>
          </a:p>
          <a:p>
            <a:pPr lvl="0"/>
            <a:r>
              <a:rPr/>
              <a:t>補 balanced accuracy、macro-F1、minority recall、AUROC。</a:t>
            </a:r>
          </a:p>
          <a:p>
            <a:pPr lvl="0"/>
            <a:r>
              <a:rPr/>
              <a:t>設計 secure-aggregation-compatible agreement statistics。</a:t>
            </a:r>
          </a:p>
          <a:p>
            <a:pPr lvl="0"/>
            <a:r>
              <a:rPr/>
              <a:t>加入簡化 convergence / stability analysis。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35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Lamport, </a:t>
            </a:r>
            <a:r>
              <a:rPr i="1"/>
              <a:t>Time, Clocks, and the Ordering of Events in a Distributed System</a:t>
            </a:r>
            <a:r>
              <a:rPr/>
              <a:t>, CACM 1978.</a:t>
            </a:r>
          </a:p>
          <a:p>
            <a:pPr lvl="0"/>
            <a:r>
              <a:rPr/>
              <a:t>McMahan et al., </a:t>
            </a:r>
            <a:r>
              <a:rPr i="1"/>
              <a:t>Communication-Efficient Learning of Deep Networks from Decentralized Data</a:t>
            </a:r>
            <a:r>
              <a:rPr/>
              <a:t>, AISTATS 2017.</a:t>
            </a:r>
          </a:p>
          <a:p>
            <a:pPr lvl="0"/>
            <a:r>
              <a:rPr/>
              <a:t>Xie et al., </a:t>
            </a:r>
            <a:r>
              <a:rPr i="1"/>
              <a:t>Asynchronous Federated Optimization</a:t>
            </a:r>
            <a:r>
              <a:rPr/>
              <a:t>, 2019.</a:t>
            </a:r>
          </a:p>
          <a:p>
            <a:pPr lvl="0"/>
            <a:r>
              <a:rPr/>
              <a:t>Nguyen et al., </a:t>
            </a:r>
            <a:r>
              <a:rPr i="1"/>
              <a:t>Federated Learning with Buffered Asynchronous Aggregation</a:t>
            </a:r>
            <a:r>
              <a:rPr/>
              <a:t>, 2021.</a:t>
            </a:r>
          </a:p>
          <a:p>
            <a:pPr lvl="0"/>
            <a:r>
              <a:rPr/>
              <a:t>Ma et al., </a:t>
            </a:r>
            <a:r>
              <a:rPr i="1"/>
              <a:t>FedStaleWeight</a:t>
            </a:r>
            <a:r>
              <a:rPr/>
              <a:t>, 2024.</a:t>
            </a:r>
          </a:p>
          <a:p>
            <a:pPr lvl="0"/>
            <a:r>
              <a:rPr/>
              <a:t>Yang et al., </a:t>
            </a:r>
            <a:r>
              <a:rPr i="1"/>
              <a:t>MedMNIST v2</a:t>
            </a:r>
            <a:r>
              <a:rPr/>
              <a:t>, Scientific Data 2023.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2026-05-25T02:59:55Z</dcterms:created>
  <dcterms:modified xsi:type="dcterms:W3CDTF">2026-05-25T02:59:55Z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