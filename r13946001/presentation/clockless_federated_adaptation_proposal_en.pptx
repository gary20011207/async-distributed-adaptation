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8" Type="http://schemas.openxmlformats.org/officeDocument/2006/relationships/viewProps" Target="viewProps.xml" /><Relationship Id="rId3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0" Type="http://schemas.openxmlformats.org/officeDocument/2006/relationships/tableStyles" Target="tableStyles.xml" /><Relationship Id="rId3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Clockless Federated Adaptation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Asynchronous Medical-Image Federated Learning Without a Global Clock</a:t>
            </a:r>
          </a:p>
          <a:p>
            <a:pPr lvl="0" indent="0" marL="0">
              <a:buNone/>
            </a:pPr>
            <a:r>
              <a:rPr/>
              <a:t>Group 4: Asynchronous Distributed ML Adaptation</a:t>
            </a:r>
          </a:p>
          <a:p>
            <a:pPr lvl="0" indent="0" marL="0">
              <a:buNone/>
            </a:pPr>
            <a:r>
              <a:rPr/>
              <a:t>Distributed Systems Final Proposal Deck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02 01 Motivation | Start from Hospital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Multiple hospitals want to train a shared medical-image model, but raw patient images cannot be centralized.</a:t>
            </a:r>
          </a:p>
          <a:p>
            <a:pPr lvl="0"/>
            <a:r>
              <a:rPr/>
              <a:t>Hospitals have different hardware, networks, and workloads.</a:t>
            </a:r>
          </a:p>
          <a:p>
            <a:pPr lvl="0"/>
            <a:r>
              <a:rPr/>
              <a:t>Some updates arrive quickly; others arrive much later.</a:t>
            </a:r>
          </a:p>
          <a:p>
            <a:pPr lvl="0"/>
            <a:r>
              <a:rPr/>
              <a:t>Patient populations and image distributions differ across hospitals.</a:t>
            </a:r>
          </a:p>
          <a:p>
            <a:pPr lvl="0" indent="0" marL="0">
              <a:buNone/>
            </a:pPr>
            <a:r>
              <a:rPr b="1"/>
              <a:t>Question: async training is faster because it does not wait for slow hospitals, but can late updates still be trusted?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03 01 Motivation | The Core Distributed-Systems 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Sync FL: wait for all clients -&gt; the slowest node determines progress
Async FL: do not wait -&gt; receive stale / out-of-order updates</a:t>
            </a:r>
          </a:p>
          <a:p>
            <a:pPr lvl="0" indent="0" marL="0">
              <a:buNone/>
            </a:pPr>
            <a:r>
              <a:rPr/>
              <a:t>This project focuses on:</a:t>
            </a:r>
          </a:p>
          <a:p>
            <a:pPr lvl="0" indent="0" marL="1270000">
              <a:buNone/>
            </a:pPr>
            <a:r>
              <a:rPr sz="2000"/>
              <a:t>throughput vs consistency / convergence correctness</a:t>
            </a:r>
          </a:p>
          <a:p>
            <a:pPr lvl="0" indent="0" marL="0">
              <a:buNone/>
            </a:pPr>
            <a:r>
              <a:rPr/>
              <a:t>This is a distributed-systems problem about time, ordering, and consistency, not only an image-classification problem.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04 02 Preliminary | Sync vs Async FL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System behavior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Main risk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Sync FedAvg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round barrier; wait for clients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straggler bottleneck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Naive Async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apply each update on arrival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stale-update instability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Buffered Async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aggregate after B updates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conflicts may still exist inside the buffer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05 02 Preliminary | Logical Staleness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do not assume a synchronized physical clock.</a:t>
            </a:r>
          </a:p>
          <a:p>
            <a:pPr lvl="0" indent="0">
              <a:buNone/>
            </a:pPr>
            <a:r>
              <a:rPr>
                <a:latin typeface="Courier"/>
              </a:rPr>
              <a:t>server_version = current global model version
client_start_version = version received by the client
staleness = server_version - client_start_version</a:t>
            </a:r>
          </a:p>
          <a:p>
            <a:pPr lvl="0" indent="0" marL="0">
              <a:buNone/>
            </a:pPr>
            <a:r>
              <a:rPr/>
              <a:t>This is the FL-simulator counterpart of Lamport logical time: logical model versions replace wall-clock ordering.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06 03 Problem Formulation | Fair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Async may look worse simply because it used fewer client updates.</a:t>
            </a:r>
          </a:p>
          <a:p>
            <a:pPr lvl="0" indent="0">
              <a:buNone/>
            </a:pPr>
            <a:r>
              <a:rPr>
                <a:latin typeface="Courier"/>
              </a:rPr>
              <a:t>Sync update budget  = rounds x clients
Async update budget = events
Fair comparison     = events = rounds x clients</a:t>
            </a:r>
          </a:p>
          <a:p>
            <a:pPr lvl="0" indent="0" marL="0">
              <a:buNone/>
            </a:pPr>
            <a:r>
              <a:rPr/>
              <a:t>Official experiment matrix:</a:t>
            </a:r>
          </a:p>
          <a:p>
            <a:pPr lvl="0" indent="0">
              <a:buNone/>
            </a:pPr>
            <a:r>
              <a:rPr>
                <a:latin typeface="Courier"/>
              </a:rPr>
              <a:t>9 datasets x 6 methods x 3 seeds = 162 official runs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07 03 Problem Formulation |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ML metrics:</a:t>
            </a:r>
          </a:p>
          <a:p>
            <a:pPr lvl="0" indent="0">
              <a:buNone/>
            </a:pPr>
            <a:r>
              <a:rPr>
                <a:latin typeface="Courier"/>
              </a:rPr>
              <a:t>best_acc, final_acc, stability_drop = best_acc - final_acc</a:t>
            </a:r>
          </a:p>
          <a:p>
            <a:pPr lvl="0" indent="0" marL="0">
              <a:buNone/>
            </a:pPr>
            <a:r>
              <a:rPr/>
              <a:t>Distributed-systems metrics:</a:t>
            </a:r>
          </a:p>
          <a:p>
            <a:pPr lvl="0" indent="0">
              <a:buNone/>
            </a:pPr>
            <a:r>
              <a:rPr>
                <a:latin typeface="Courier"/>
              </a:rPr>
              <a:t>p95 staleness, simulated time, effective alpha,
client contribution Gini, time-to-accuracy</a:t>
            </a:r>
          </a:p>
          <a:p>
            <a:pPr lvl="0" indent="0" marL="0">
              <a:buNone/>
            </a:pPr>
            <a:r>
              <a:rPr b="1"/>
              <a:t>Accuracy tells us what happened; staleness / delay / imbalance explain why.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08 03 Architecture | Event-Driven Clockless Simulator</a:t>
            </a:r>
          </a:p>
        </p:txBody>
      </p:sp>
      <p:pic>
        <p:nvPicPr>
          <p:cNvPr descr="assets/system_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1193800"/>
            <a:ext cx="6426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09 04 Methodology | Baseline 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tests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Sync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upper reference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async staleness, but has a barrier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Naive Async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stateless async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throughput without correction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Staleness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logical-age correction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whether age alone is enough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FedBuff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buffered async baseline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whether buffering stabilizes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CAA-v1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agreement-aware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whether direction helps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CAA-v2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final method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direction + trajectory + fairness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 04 Methodology | CAA-v2 Is More Than FedBuff</a:t>
            </a:r>
          </a:p>
        </p:txBody>
      </p:sp>
      <p:pic>
        <p:nvPicPr>
          <p:cNvPr descr="assets/proposal_component_stac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1193800"/>
            <a:ext cx="6426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 04 Methodology | CAA-v2 Server Pipeline</a:t>
            </a:r>
          </a:p>
        </p:txBody>
      </p:sp>
      <p:pic>
        <p:nvPicPr>
          <p:cNvPr descr="assets/proposal_method_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1193800"/>
            <a:ext cx="6426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 04 Methodology | Server Decision Flow</a:t>
            </a:r>
          </a:p>
        </p:txBody>
      </p:sp>
      <p:pic>
        <p:nvPicPr>
          <p:cNvPr descr="assets/proposal_method_decis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1193800"/>
            <a:ext cx="6426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 04 Methodology | Core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each client update:</a:t>
            </a:r>
          </a:p>
          <a:p>
            <a:pPr lvl="0" indent="0">
              <a:buNone/>
            </a:pPr>
            <a:r>
              <a:rPr>
                <a:latin typeface="Courier"/>
              </a:rPr>
              <a:t>delta_i = client_model_i - model_at_client_start_i
tau_i   = server_version - client_start_version_i</a:t>
            </a:r>
          </a:p>
          <a:p>
            <a:pPr lvl="0" indent="0" marL="0">
              <a:buNone/>
            </a:pPr>
            <a:r>
              <a:rPr/>
              <a:t>CAA-v2 weight:</a:t>
            </a:r>
          </a:p>
          <a:p>
            <a:pPr lvl="0" indent="0">
              <a:buNone/>
            </a:pPr>
            <a:r>
              <a:rPr>
                <a:latin typeface="Courier"/>
              </a:rPr>
              <a:t>raw_weight_i = n_i x staleness_decay(tau_i)
             x agreement(delta_i, ref) x fairness_i</a:t>
            </a:r>
          </a:p>
          <a:p>
            <a:pPr lvl="0" indent="0" marL="0">
              <a:buNone/>
            </a:pPr>
            <a:r>
              <a:rPr/>
              <a:t>Server update:</a:t>
            </a:r>
          </a:p>
          <a:p>
            <a:pPr lvl="0" indent="0">
              <a:buNone/>
            </a:pPr>
            <a:r>
              <a:rPr>
                <a:latin typeface="Courier"/>
              </a:rPr>
              <a:t>w &lt;- w + alpha_buffer x weighted_average(delta_i)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14 04 Methodology | Reference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buffer_ref = weighted_average(delta_i, n_i x age_i)
server_ema = EMA(previous accepted server deltas)
ref        = blend(buffer_ref, server_ema)</a:t>
            </a:r>
          </a:p>
          <a:p>
            <a:pPr lvl="0" indent="0" marL="0">
              <a:buNone/>
            </a:pPr>
            <a:r>
              <a:rPr/>
              <a:t>Intuition:</a:t>
            </a:r>
          </a:p>
          <a:p>
            <a:pPr lvl="0"/>
            <a:r>
              <a:rPr>
                <a:latin typeface="Courier"/>
              </a:rPr>
              <a:t>buffer_ref</a:t>
            </a:r>
            <a:r>
              <a:rPr/>
              <a:t>: the group direction of the current buffered updates.</a:t>
            </a:r>
          </a:p>
          <a:p>
            <a:pPr lvl="0"/>
            <a:r>
              <a:rPr>
                <a:latin typeface="Courier"/>
              </a:rPr>
              <a:t>server_ema</a:t>
            </a:r>
            <a:r>
              <a:rPr/>
              <a:t>: where the global model has recently been moving.</a:t>
            </a:r>
          </a:p>
          <a:p>
            <a:pPr lvl="0"/>
            <a:r>
              <a:rPr/>
              <a:t>A stale update pointing against this direction should not be blindly amplified.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15 04 Methodology | Clockless Signals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Uses physical clock?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staleness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server/client logical 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agreement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delta dot product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server trajectory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accepted server deltas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fairness credit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accepted contribution count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adaptive alpha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 staleness + agreement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16 04 Methodology | Novelty Boundary</a:t>
            </a:r>
          </a:p>
        </p:txBody>
      </p:sp>
      <p:pic>
        <p:nvPicPr>
          <p:cNvPr descr="assets/proposal_novelty_posi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95400" y="1193800"/>
            <a:ext cx="6540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17 05 Experiment Results | Fairness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clients = 10
local_epochs = 1
batch_size = 128
lr = 0.01, cosine scheduler
seeds = 42, 43, 44
async delay = same heterogeneous setting
fair budget = async events = sync rounds x clients</a:t>
            </a:r>
          </a:p>
          <a:p>
            <a:pPr lvl="0" indent="0" marL="0">
              <a:buNone/>
            </a:pPr>
            <a:r>
              <a:rPr/>
              <a:t>Official comparisons do not mix different backbones, delay settings, seeds, local epochs, or update budgets.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18 05 Experiment Results | Coverage</a:t>
            </a:r>
          </a:p>
        </p:txBody>
      </p:sp>
      <p:pic>
        <p:nvPicPr>
          <p:cNvPr descr="assets/proposal_dataset_method_heatm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19200" y="1193800"/>
            <a:ext cx="669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19 05 Experiment Results | Overall Dashboard</a:t>
            </a:r>
          </a:p>
        </p:txBody>
      </p:sp>
      <p:pic>
        <p:nvPicPr>
          <p:cNvPr descr="assets/proposal_results_dash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66800" y="1193800"/>
            <a:ext cx="7023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 05 Experiment Results | CAA-v2 vs Sync</a:t>
            </a:r>
          </a:p>
        </p:txBody>
      </p:sp>
      <p:pic>
        <p:nvPicPr>
          <p:cNvPr descr="assets/proposal_caa_v2_g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47800" y="1193800"/>
            <a:ext cx="6248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21 05 Experiment Results | Async-Sync Gap</a:t>
            </a:r>
          </a:p>
        </p:txBody>
      </p:sp>
      <p:pic>
        <p:nvPicPr>
          <p:cNvPr descr="assets/proposal_async_sync_gap_errorba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06500" y="1193800"/>
            <a:ext cx="6731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22 05 Experiment Results | Stability Drop</a:t>
            </a:r>
          </a:p>
        </p:txBody>
      </p:sp>
      <p:pic>
        <p:nvPicPr>
          <p:cNvPr descr="assets/proposal_stability_drop_errorba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19200" y="1193800"/>
            <a:ext cx="6705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 05 Experiment Results | System Metrics</a:t>
            </a:r>
          </a:p>
        </p:txBody>
      </p:sp>
      <p:pic>
        <p:nvPicPr>
          <p:cNvPr descr="assets/proposal_system_metric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7239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24 05 Experiment Results | Non-IID Hospital Scenario</a:t>
            </a:r>
          </a:p>
        </p:txBody>
      </p:sp>
      <p:pic>
        <p:nvPicPr>
          <p:cNvPr descr="assets/proposal_non_iid_async_sync_g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08100" y="1193800"/>
            <a:ext cx="6515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25 05 Experiment Results | Straggler Stress</a:t>
            </a:r>
          </a:p>
        </p:txBody>
      </p:sp>
      <p:pic>
        <p:nvPicPr>
          <p:cNvPr descr="assets/proposal_straggler_staleness_distribu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11300" y="1193800"/>
            <a:ext cx="6121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26 05 Experiment Results | Simulated Time</a:t>
            </a:r>
          </a:p>
        </p:txBody>
      </p:sp>
      <p:pic>
        <p:nvPicPr>
          <p:cNvPr descr="assets/proposal_straggler_acc_vs_simulated_tim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35100" y="1193800"/>
            <a:ext cx="6273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27 05 Experiment Results | Ablation</a:t>
            </a:r>
          </a:p>
        </p:txBody>
      </p:sp>
      <p:pic>
        <p:nvPicPr>
          <p:cNvPr descr="assets/proposal_caa_v2_ablation_best_ac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01700" y="1193800"/>
            <a:ext cx="7353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28 05 Experiment Results | Final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Official fair matrix:</a:t>
            </a:r>
          </a:p>
          <a:p>
            <a:pPr lvl="0" indent="0">
              <a:buNone/>
            </a:pPr>
            <a:r>
              <a:rPr>
                <a:latin typeface="Courier"/>
              </a:rPr>
              <a:t>CAA-v2 best  = 0.7169
CAA-v2 final = 0.7140
Sync final   = 0.7121
Naive final  = 0.7096</a:t>
            </a:r>
          </a:p>
          <a:p>
            <a:pPr lvl="0" indent="0" marL="0">
              <a:buNone/>
            </a:pPr>
            <a:r>
              <a:rPr/>
              <a:t>Conclusion: CAA-v2 is not a universal winner, but it is more stable than Naive Async, less conservative than staleness-only, and close to or better than Sync on most datasets.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29 06 Challenges | Overview</a:t>
            </a:r>
          </a:p>
        </p:txBody>
      </p:sp>
      <p:pic>
        <p:nvPicPr>
          <p:cNvPr descr="assets/proposal_challenge_m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1193800"/>
            <a:ext cx="6426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30 06 Challenges | No Global Clock, Stale, Conflict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issues happen at the same time:</a:t>
            </a:r>
          </a:p>
          <a:p>
            <a:pPr lvl="0" indent="0">
              <a:buNone/>
            </a:pPr>
            <a:r>
              <a:rPr>
                <a:latin typeface="Courier"/>
              </a:rPr>
              <a:t>No global clock -&gt; cannot totally order distributed events
Stale update    -&gt; trained from an old global model
Conflict update -&gt; non-IID direction differs from others</a:t>
            </a:r>
          </a:p>
          <a:p>
            <a:pPr lvl="0" indent="0" marL="0">
              <a:buNone/>
            </a:pPr>
            <a:r>
              <a:rPr/>
              <a:t>CAA-v2 design: logical staleness + direction agreement + server trajectory.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31 06 Challenges | Fast Clients and Privacy 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Fast-client domination:</a:t>
            </a:r>
          </a:p>
          <a:p>
            <a:pPr lvl="0" indent="0">
              <a:buNone/>
            </a:pPr>
            <a:r>
              <a:rPr>
                <a:latin typeface="Courier"/>
              </a:rPr>
              <a:t>higher arrival rate from fast hospitals -&gt; possible long-term model dominance</a:t>
            </a:r>
          </a:p>
          <a:p>
            <a:pPr lvl="0" indent="0" marL="0">
              <a:buNone/>
            </a:pPr>
            <a:r>
              <a:rPr/>
              <a:t>Privacy tension:</a:t>
            </a:r>
          </a:p>
          <a:p>
            <a:pPr lvl="0" indent="0">
              <a:buNone/>
            </a:pPr>
            <a:r>
              <a:rPr>
                <a:latin typeface="Courier"/>
              </a:rPr>
              <a:t>CAA-v2 needs delta direction / norm statistics
secure-aggregation compatibility still requires future design</a:t>
            </a:r>
          </a:p>
          <a:p>
            <a:pPr lvl="0" indent="0" marL="0">
              <a:buNone/>
            </a:pPr>
            <a:r>
              <a:rPr/>
              <a:t>Therefore, our current claim is a system simulator / design extension, not a complete privacy solution.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32 07 Conclusion |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Build a no-global-clock async FL simulator using logical versions.</a:t>
            </a:r>
          </a:p>
          <a:p>
            <a:pPr lvl="0" indent="-342900" marL="342900">
              <a:buAutoNum type="arabicPeriod"/>
            </a:pPr>
            <a:r>
              <a:rPr/>
              <a:t>Add a fair update-budget protocol.</a:t>
            </a:r>
          </a:p>
          <a:p>
            <a:pPr lvl="0" indent="-342900" marL="342900">
              <a:buAutoNum type="arabicPeriod"/>
            </a:pPr>
            <a:r>
              <a:rPr/>
              <a:t>Propose CAA-v2: agreement + server trajectory + fairness credit.</a:t>
            </a:r>
          </a:p>
          <a:p>
            <a:pPr lvl="0" indent="-342900" marL="342900">
              <a:buAutoNum type="arabicPeriod"/>
            </a:pPr>
            <a:r>
              <a:rPr/>
              <a:t>Evaluate with 9 datasets x 6 methods x 3 seeds.</a:t>
            </a:r>
          </a:p>
          <a:p>
            <a:pPr lvl="0" indent="-342900" marL="342900">
              <a:buAutoNum type="arabicPeriod"/>
            </a:pPr>
            <a:r>
              <a:rPr/>
              <a:t>Add distributed-systems analysis through staleness, simulated time, and client Gini.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33 07 Conclusion | Final Claim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Under a fair update budget, CAA-v2 makes clockless asynchronous FL approach Sync FedAvg across diverse MedMNIST datasets, while reducing the instability of Naive Async and avoiding the over-conservatism of staleness-only aggregation.</a:t>
            </a:r>
          </a:p>
          <a:p>
            <a:pPr lvl="0" indent="0" marL="0">
              <a:buNone/>
            </a:pPr>
            <a:r>
              <a:rPr/>
              <a:t>Aligned Chinese wording:</a:t>
            </a:r>
          </a:p>
          <a:p>
            <a:pPr lvl="0" indent="0" marL="1270000">
              <a:buNone/>
            </a:pPr>
            <a:r>
              <a:rPr sz="2000"/>
              <a:t>CAA-v2 讓無全域時鐘的非同步 FL 接近 Sync FedAvg，同時比 Naive Async 穩、比 staleness-only 不保守。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34 07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Compare against FedStaleWeight, SEAFL, FedPSA, and FedCompass.</a:t>
            </a:r>
          </a:p>
          <a:p>
            <a:pPr lvl="0"/>
            <a:r>
              <a:rPr/>
              <a:t>Add more multi-seed non-IID / straggler stress tests.</a:t>
            </a:r>
          </a:p>
          <a:p>
            <a:pPr lvl="0"/>
            <a:r>
              <a:rPr/>
              <a:t>Add real network traces or hospital-like traces.</a:t>
            </a:r>
          </a:p>
          <a:p>
            <a:pPr lvl="0"/>
            <a:r>
              <a:rPr/>
              <a:t>Add balanced accuracy, macro-F1, minority recall, and AUROC.</a:t>
            </a:r>
          </a:p>
          <a:p>
            <a:pPr lvl="0"/>
            <a:r>
              <a:rPr/>
              <a:t>Design secure-aggregation-compatible agreement statistics.</a:t>
            </a:r>
          </a:p>
          <a:p>
            <a:pPr lvl="0"/>
            <a:r>
              <a:rPr/>
              <a:t>Add a simplified convergence / stability analysis.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35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Lamport, </a:t>
            </a:r>
            <a:r>
              <a:rPr i="1"/>
              <a:t>Time, Clocks, and the Ordering of Events in a Distributed System</a:t>
            </a:r>
            <a:r>
              <a:rPr/>
              <a:t>, CACM 1978.</a:t>
            </a:r>
          </a:p>
          <a:p>
            <a:pPr lvl="0"/>
            <a:r>
              <a:rPr/>
              <a:t>McMahan et al., </a:t>
            </a:r>
            <a:r>
              <a:rPr i="1"/>
              <a:t>Communication-Efficient Learning of Deep Networks from Decentralized Data</a:t>
            </a:r>
            <a:r>
              <a:rPr/>
              <a:t>, AISTATS 2017.</a:t>
            </a:r>
          </a:p>
          <a:p>
            <a:pPr lvl="0"/>
            <a:r>
              <a:rPr/>
              <a:t>Xie et al., </a:t>
            </a:r>
            <a:r>
              <a:rPr i="1"/>
              <a:t>Asynchronous Federated Optimization</a:t>
            </a:r>
            <a:r>
              <a:rPr/>
              <a:t>, 2019.</a:t>
            </a:r>
          </a:p>
          <a:p>
            <a:pPr lvl="0"/>
            <a:r>
              <a:rPr/>
              <a:t>Nguyen et al., </a:t>
            </a:r>
            <a:r>
              <a:rPr i="1"/>
              <a:t>Federated Learning with Buffered Asynchronous Aggregation</a:t>
            </a:r>
            <a:r>
              <a:rPr/>
              <a:t>, 2021.</a:t>
            </a:r>
          </a:p>
          <a:p>
            <a:pPr lvl="0"/>
            <a:r>
              <a:rPr/>
              <a:t>Ma et al., </a:t>
            </a:r>
            <a:r>
              <a:rPr i="1"/>
              <a:t>FedStaleWeight</a:t>
            </a:r>
            <a:r>
              <a:rPr/>
              <a:t>, 2024.</a:t>
            </a:r>
          </a:p>
          <a:p>
            <a:pPr lvl="0"/>
            <a:r>
              <a:rPr/>
              <a:t>Yang et al., </a:t>
            </a:r>
            <a:r>
              <a:rPr i="1"/>
              <a:t>MedMNIST v2</a:t>
            </a:r>
            <a:r>
              <a:rPr/>
              <a:t>, Scientific Data 2023.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2026-05-25T02:59:56Z</dcterms:created>
  <dcterms:modified xsi:type="dcterms:W3CDTF">2026-05-25T02:59:56Z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